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4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Caught (Hold+Review)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Count</c:v>
                </c:pt>
                <c:pt idx="1">
                  <c:v>Amount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88.6</c:v>
                </c:pt>
                <c:pt idx="1">
                  <c:v>96.3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Count</c:v>
                </c:pt>
                <c:pt idx="1">
                  <c:v>Amount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11.4</c:v>
                </c:pt>
                <c:pt idx="1">
                  <c:v>3.7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64748B"/>
            </a:solidFill>
            <a:round/>
          </a:ln>
        </c:spPr>
        <c:txPr>
          <a:bodyPr/>
          <a:lstStyle/>
          <a:p>
            <a:pPr>
              <a:defRPr sz="1050">
                <a:solidFill>
                  <a:srgbClr val="64748B"/>
                </a:solidFill>
                <a:latin typeface="Inter"/>
                <a:ea typeface="Microsoft YaHei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64748B"/>
            </a:solidFill>
            <a:round/>
          </a:ln>
        </c:spPr>
        <c:txPr>
          <a:bodyPr/>
          <a:lstStyle/>
          <a:p>
            <a:pPr>
              <a:defRPr sz="1050">
                <a:solidFill>
                  <a:srgbClr val="64748B"/>
                </a:solidFill>
                <a:latin typeface="Inter"/>
                <a:ea typeface="Microsoft YaHei"/>
              </a:defRPr>
            </a:pPr>
            <a:endParaRPr lang="en-US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50">
          <a:solidFill>
            <a:srgbClr val="64748B"/>
          </a:solidFill>
          <a:latin typeface="Inter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</a:t>
            </a:r>
          </a:p>
          <a:p>
            <a:endParaRPr lang="en-US" dirty="0"/>
          </a:p>
          <a:p>
            <a:r>
              <a:rPr lang="en-US" dirty="0"/>
              <a:t>Rhea FinGraph: Temporal Graph Intelligence for Merchant Fraud Detection</a:t>
            </a:r>
          </a:p>
          <a:p>
            <a:endParaRPr lang="en-US" dirty="0"/>
          </a:p>
          <a:p>
            <a:r>
              <a:rPr lang="en-US" dirty="0"/>
              <a:t>• "Hi, I'm Aditi. This is Rhea FinGraph — a defense-only merchant payment-fraud detection system built for this hackathon."</a:t>
            </a:r>
          </a:p>
          <a:p>
            <a:r>
              <a:rPr lang="en-US" dirty="0"/>
              <a:t>• "The three stat cards at the bottom are real: ₹3.10 Cr protected, 88.6% count recall, 96.3% amount recall — all from a locked 4.8M-row test split, verified byte-for-byte."</a:t>
            </a:r>
          </a:p>
          <a:p>
            <a:r>
              <a:rPr lang="en-US" dirty="0"/>
              <a:t>• "Everything you'll see in the next 5 minutes is a live demo running against real data. No mockups, no fabricated numbers."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Problem</a:t>
            </a:r>
          </a:p>
          <a:p>
            <a:endParaRPr lang="en-US" dirty="0"/>
          </a:p>
          <a:p>
            <a:r>
              <a:rPr lang="en-US" dirty="0"/>
              <a:t>Merchant fraud costs ₹3.10 Cr</a:t>
            </a:r>
          </a:p>
          <a:p>
            <a:endParaRPr lang="en-US" dirty="0"/>
          </a:p>
          <a:p>
            <a:r>
              <a:rPr lang="en-US" dirty="0"/>
              <a:t>• "Merchant fraud is expensive and hard to catch. In a 33-month window the fraud in our locked test split totals ₹3.10 Cr — and standard defenses leave a real gap."</a:t>
            </a:r>
          </a:p>
          <a:p>
            <a:r>
              <a:rPr lang="en-US" dirty="0"/>
              <a:t>• "Blind retry only recovers 81.9% — it never learns from failure."</a:t>
            </a:r>
          </a:p>
          <a:p>
            <a:r>
              <a:rPr lang="en-US" dirty="0"/>
              <a:t>• "Flat drift detectors (EWMA/CUSUM on the mean score) miss ranking collapse entirely."</a:t>
            </a:r>
          </a:p>
          <a:p>
            <a:r>
              <a:rPr lang="en-US" dirty="0"/>
              <a:t>• "And most systems have no memory: they never adjust to their own decision mistakes."</a:t>
            </a:r>
          </a:p>
          <a:p>
            <a:r>
              <a:rPr lang="en-US" dirty="0"/>
              <a:t>• "The bottom chart is the honest recovery comparison we'll build on."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Architecture</a:t>
            </a:r>
          </a:p>
          <a:p>
            <a:endParaRPr lang="en-US" dirty="0"/>
          </a:p>
          <a:p>
            <a:r>
              <a:rPr lang="en-US" dirty="0"/>
              <a:t>6-Layer Self-Healing System</a:t>
            </a:r>
          </a:p>
          <a:p>
            <a:endParaRPr lang="en-US" dirty="0"/>
          </a:p>
          <a:p>
            <a:r>
              <a:rPr lang="en-US" dirty="0"/>
              <a:t>• "Rhea is built as six independent, verifiable layers, so each piece can be tested — and trusted — on its own."</a:t>
            </a:r>
          </a:p>
          <a:p>
            <a:r>
              <a:rPr lang="en-US" dirty="0"/>
              <a:t>• "Layer 0 Live Scoring: XGBoost with SHAP explanations and a calibrated action (allow / review / hold)."</a:t>
            </a:r>
          </a:p>
          <a:p>
            <a:r>
              <a:rPr lang="en-US" dirty="0"/>
              <a:t>• "Layer 1 Velocity Store: 1-hour, 24-hour, and 7-day rolling windows across 24 velocity keys."</a:t>
            </a:r>
          </a:p>
          <a:p>
            <a:r>
              <a:rPr lang="en-US" dirty="0"/>
              <a:t>• "Layer 2 Graph Store: a Neo4j graph plus temporal PyG HeteroData snapshots."</a:t>
            </a:r>
          </a:p>
          <a:p>
            <a:r>
              <a:rPr lang="en-US" dirty="0"/>
              <a:t>• "Layer 3 Audit Ledger: a tamper-evident hash chain so every decision is immutable."</a:t>
            </a:r>
          </a:p>
          <a:p>
            <a:r>
              <a:rPr lang="en-US" dirty="0"/>
              <a:t>• "Layer 4 Drift Monitor: per-feature PSI and mean-shift with a gated promotion gate."</a:t>
            </a:r>
          </a:p>
          <a:p>
            <a:r>
              <a:rPr lang="en-US" dirty="0"/>
              <a:t>• "Layers 5-6 Helix + PCEC: the self-healing loop and the RL Gene Map."</a:t>
            </a:r>
          </a:p>
          <a:p>
            <a:r>
              <a:rPr lang="en-US" dirty="0"/>
              <a:t>• "The key point: every number we show is independently reproducible."</a:t>
            </a:r>
          </a:p>
          <a:p>
            <a:endParaRPr lang="en-US" dirty="0"/>
          </a:p>
          <a:p>
            <a:r>
              <a:rPr lang="en-US" dirty="0"/>
              <a:t>Transition: "Now let me show you what the system actually scored on the locked test split."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Results</a:t>
            </a:r>
          </a:p>
          <a:p>
            <a:endParaRPr lang="en-US" dirty="0"/>
          </a:p>
          <a:p>
            <a:r>
              <a:rPr lang="en-US" dirty="0"/>
              <a:t>Real parity-verified metrics</a:t>
            </a:r>
          </a:p>
          <a:p>
            <a:endParaRPr lang="en-US" dirty="0"/>
          </a:p>
          <a:p>
            <a:r>
              <a:rPr lang="en-US" dirty="0"/>
              <a:t>• "These are not estimates — they are reproduced byte-for-byte from the locked test split of 4.87M events containing 4,833 real frauds."</a:t>
            </a:r>
          </a:p>
          <a:p>
            <a:r>
              <a:rPr lang="en-US" dirty="0"/>
              <a:t>• "Rhea caught 88.6% of the fraudulent transactions by count and 96.3% by amount — because it prioritizes the expensive frauds."</a:t>
            </a:r>
          </a:p>
          <a:p>
            <a:r>
              <a:rPr lang="en-US" dirty="0"/>
              <a:t>• "Protected value: ₹31,018,572.48. Missed: ₹1,184,238. That's about ₹9.4 lakh protected per month."</a:t>
            </a:r>
          </a:p>
          <a:p>
            <a:r>
              <a:rPr lang="en-US" dirty="0"/>
              <a:t>• "We are deliberately honest about the cost: our hold decision does catch legitimate transactions too (we disclose that as a false-positive rate), which is the tradeoff of defense-only detection."</a:t>
            </a:r>
          </a:p>
          <a:p>
            <a:endParaRPr lang="en-US" dirty="0"/>
          </a:p>
          <a:p>
            <a:r>
              <a:rPr lang="en-US" dirty="0"/>
              <a:t>Transition: "The reason it can keep improving is the self-healing loop — let me show you."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Helix Self-Healing</a:t>
            </a:r>
          </a:p>
          <a:p>
            <a:endParaRPr lang="en-US" dirty="0"/>
          </a:p>
          <a:p>
            <a:r>
              <a:rPr lang="en-US" dirty="0"/>
              <a:t>Fix once, immune forever</a:t>
            </a:r>
          </a:p>
          <a:p>
            <a:endParaRPr lang="en-US" dirty="0"/>
          </a:p>
          <a:p>
            <a:r>
              <a:rPr lang="en-US" dirty="0"/>
              <a:t>• "This is the piece that makes Rhea different: it repairs its own failures and remembers how."</a:t>
            </a:r>
          </a:p>
          <a:p>
            <a:r>
              <a:rPr lang="en-US" dirty="0"/>
              <a:t>• "The PCEC engine runs a 6-stage loop — Perceive, Construct, Evaluate, Commit, Verify, Gene."</a:t>
            </a:r>
          </a:p>
          <a:p>
            <a:r>
              <a:rPr lang="en-US" dirty="0"/>
              <a:t>• "When an operation fails, it perceives the error type, constructs candidate repairs, scores them, commits the best one, and verifies the outcome — and only then stores the winning strategy as a gene."</a:t>
            </a:r>
          </a:p>
          <a:p>
            <a:r>
              <a:rPr lang="en-US" dirty="0"/>
              <a:t>• "The Gene Map is a real SQLite table with RL Q-values that go up on success and down on failure — see the real rows at the bottom."</a:t>
            </a:r>
          </a:p>
          <a:p>
            <a:r>
              <a:rPr lang="en-US" dirty="0"/>
              <a:t>• "Because the gene is keyed by a normalized failure signature, the identical failure resolves on the next hit in under a millisecond — our own measured counts back the rates on the dashboard, not the generic 99.9% claim."</a:t>
            </a:r>
          </a:p>
          <a:p>
            <a:endParaRPr lang="en-US" dirty="0"/>
          </a:p>
          <a:p>
            <a:r>
              <a:rPr lang="en-US" dirty="0"/>
              <a:t>Transition: "Enough slides — let me walk you through the live demo."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Live Demo</a:t>
            </a:r>
          </a:p>
          <a:p>
            <a:endParaRPr lang="en-US" dirty="0"/>
          </a:p>
          <a:p>
            <a:r>
              <a:rPr lang="en-US" dirty="0"/>
              <a:t>5-minute walkthrough</a:t>
            </a:r>
          </a:p>
          <a:p>
            <a:endParaRPr lang="en-US" dirty="0"/>
          </a:p>
          <a:p>
            <a:r>
              <a:rPr lang="en-US" dirty="0"/>
              <a:t>• "Five stops, full script is in docs/DEMO_SCRIPT.md."</a:t>
            </a:r>
          </a:p>
          <a:p>
            <a:r>
              <a:rPr lang="en-US" dirty="0"/>
              <a:t>• "1. Live Scoring — score a real payment event through the XGBoost model and read its SHAP reasons."</a:t>
            </a:r>
          </a:p>
          <a:p>
            <a:r>
              <a:rPr lang="en-US" dirty="0"/>
              <a:t>• "2. Attack Simulator — push a VELOCITY_ATTACK into the real engine and watch the raw margin react; then show that a calibrated v3 model doesn't over-hold on synthetic amounts (honesty)."</a:t>
            </a:r>
          </a:p>
          <a:p>
            <a:r>
              <a:rPr lang="en-US" dirty="0"/>
              <a:t>• "3. Outcome Simulator — open the verified P&amp;L: ₹3.10 Cr protected, and openly state the false-positive cost."</a:t>
            </a:r>
          </a:p>
          <a:p>
            <a:r>
              <a:rPr lang="en-US" dirty="0"/>
              <a:t>• "4. Helix Self-Healing — click 'Trigger a failure', watch PCEC repair it and store a gene live."</a:t>
            </a:r>
          </a:p>
          <a:p>
            <a:r>
              <a:rPr lang="en-US" dirty="0"/>
              <a:t>• "5. Graph Visualization — a force-directed graph from local snapshots, plus the live Neo4j console if the DB is up."</a:t>
            </a:r>
          </a:p>
          <a:p>
            <a:r>
              <a:rPr lang="en-US" dirty="0"/>
              <a:t>• "I'll have run this script at least three times before judging day."</a:t>
            </a:r>
          </a:p>
          <a:p>
            <a:endParaRPr lang="en-US" dirty="0"/>
          </a:p>
          <a:p>
            <a:r>
              <a:rPr lang="en-US" dirty="0"/>
              <a:t>Transition: "And here's where this goes next."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Next Steps</a:t>
            </a:r>
          </a:p>
          <a:p>
            <a:endParaRPr lang="en-US" dirty="0"/>
          </a:p>
          <a:p>
            <a:r>
              <a:rPr lang="en-US" dirty="0"/>
              <a:t>From prototype to production</a:t>
            </a:r>
          </a:p>
          <a:p>
            <a:endParaRPr lang="en-US" dirty="0"/>
          </a:p>
          <a:p>
            <a:r>
              <a:rPr lang="en-US" dirty="0"/>
              <a:t>• "What's done: a fully working 6-layer system, 147 tests, a live dashboard, and real verified P&amp;L."</a:t>
            </a:r>
          </a:p>
          <a:p>
            <a:r>
              <a:rPr lang="en-US" dirty="0"/>
              <a:t>• "Where it goes next: a full-data retrain of the velocity model on all 14.6M rows (the current gate honestly blocks promotion until that happens), a local heat-score replacement, Vertex AI deployment, and a pay-per-use Stripe Connect path for Razorpay."</a:t>
            </a:r>
          </a:p>
          <a:p>
            <a:r>
              <a:rPr lang="en-US" dirty="0"/>
              <a:t>• "Why it matters: defense-only, self-healing, every metric verified — and it ships as a 5-minute live demo, not just slides."</a:t>
            </a:r>
          </a:p>
          <a:p>
            <a:r>
              <a:rPr lang="en-US" dirty="0"/>
              <a:t>• "Repo: github.com/aditisahu1234/Rhea-FinGraph. Thank you — happy to take questions or run any of these panels again."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chart" Target="../charts/chart401.xml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15240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1703070"/>
            <a:ext cx="494009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spc="-15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Rhea FinGraph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284" y="2661285"/>
            <a:ext cx="1034702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Temporal Graph Intelligence for Merchant Fraud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2856" y="3615690"/>
            <a:ext cx="56293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Defense-only · Self-healing · Production-grade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4381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35380" y="4600575"/>
            <a:ext cx="10210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Protected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0808" y="4884420"/>
            <a:ext cx="147208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₹3.10 Cr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619500" y="4381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992880" y="4600575"/>
            <a:ext cx="12086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Count Recall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88308" y="4884420"/>
            <a:ext cx="102514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88.6%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77000" y="4381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850380" y="4600575"/>
            <a:ext cx="13605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Amount Recall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5808" y="4884420"/>
            <a:ext cx="102514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96.3%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334500" y="438150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612630" y="4600575"/>
            <a:ext cx="7989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Dataset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8058" y="4884420"/>
            <a:ext cx="196280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14.6M rows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904" y="6156960"/>
            <a:ext cx="37400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Hackathon 2026 · Defense-only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632460"/>
            <a:ext cx="9296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22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912495"/>
            <a:ext cx="843709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Merchant fraud costs ₹3.10 Cr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1332" y="1583055"/>
            <a:ext cx="87285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in a 33-month transaction window — and most defenses miss it.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32385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34618" y="2631758"/>
            <a:ext cx="29886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Blind retry catches 81.9%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142" y="2997518"/>
            <a:ext cx="29911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Standard retry-on-failure leaves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142" y="3235642"/>
            <a:ext cx="22672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18.1% of fraud unsolved.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476750" y="2381250"/>
            <a:ext cx="32385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849368" y="2631758"/>
            <a:ext cx="29279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Flat mean drift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0892" y="2997518"/>
            <a:ext cx="23463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EWMA/CUSUM on the score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50892" y="3235642"/>
            <a:ext cx="24580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is blind to ranking collapse.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191500" y="2381250"/>
            <a:ext cx="32385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564118" y="2631758"/>
            <a:ext cx="26254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No memory of mistakes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5642" y="2997518"/>
            <a:ext cx="26730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Models never learn from their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65642" y="3235642"/>
            <a:ext cx="19764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own decision failures.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476750"/>
            <a:ext cx="106680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4618" y="4679632"/>
            <a:ext cx="382636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Recovery rates — real comparison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5048250"/>
            <a:ext cx="6667500" cy="2857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143000" y="5048250"/>
            <a:ext cx="5715000" cy="285750"/>
          </a:xfrm>
          <a:prstGeom prst="roundRect">
            <a:avLst>
              <a:gd name="adj" fmla="val 20000"/>
            </a:avLst>
          </a:prstGeom>
          <a:solidFill>
            <a:srgbClr val="EF4444">
              <a:alpha val="7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27404" y="5109210"/>
            <a:ext cx="1564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Blind retry: 81.9%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143000" y="5524500"/>
            <a:ext cx="6667500" cy="2857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143000" y="5524500"/>
            <a:ext cx="6191250" cy="28575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27404" y="5585460"/>
            <a:ext cx="66286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Rhea FinGraph + Helix: 99.9% (generic runtime claim, not our measured number)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5666" y="5125402"/>
            <a:ext cx="9294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18.1% missed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5666" y="5601652"/>
            <a:ext cx="8517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0.1% missed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632460"/>
            <a:ext cx="14481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22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912495"/>
            <a:ext cx="772390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6-Layer Self-Healing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2856" y="1615440"/>
            <a:ext cx="61080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Each layer is independently testable and verifiable.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286000"/>
            <a:ext cx="323850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37666" y="2553652"/>
            <a:ext cx="6763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LAYER 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5380" y="2790825"/>
            <a:ext cx="12683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Live Scoring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904" y="3108960"/>
            <a:ext cx="27495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XGBoost + SHAP + calibrated action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476750" y="2286000"/>
            <a:ext cx="323850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852416" y="2553652"/>
            <a:ext cx="6763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LAYER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0130" y="2790825"/>
            <a:ext cx="15016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Velocity Store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51654" y="3108960"/>
            <a:ext cx="27745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1h/24h/7d rolling windows, 24 keys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191500" y="2286000"/>
            <a:ext cx="323850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567166" y="2553652"/>
            <a:ext cx="6763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LAYER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4880" y="2790825"/>
            <a:ext cx="1258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Graph Store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66404" y="3108960"/>
            <a:ext cx="31064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Neo4j + temporal HeteroData snapshots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810000"/>
            <a:ext cx="323850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7666" y="4077652"/>
            <a:ext cx="6763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LAYER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5380" y="4314825"/>
            <a:ext cx="13219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Audit Ledger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6904" y="4632960"/>
            <a:ext cx="30304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Tamper-evident hash chain, immutable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476750" y="3810000"/>
            <a:ext cx="323850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52416" y="4077652"/>
            <a:ext cx="6763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LAYER 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50130" y="4314825"/>
            <a:ext cx="14278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Drift Monitor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1654" y="4632960"/>
            <a:ext cx="27570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Per-feature PSI + gated promotion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191500" y="3810000"/>
            <a:ext cx="323850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67166" y="4077652"/>
            <a:ext cx="8833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150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LAYER 5-6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64880" y="4314825"/>
            <a:ext cx="12399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Helix + PCEC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66404" y="4632960"/>
            <a:ext cx="22812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Self-healing + Gene Map (RL)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99582" y="18211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14332" y="18211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99582" y="33451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14332" y="334518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542925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35380" y="5648325"/>
            <a:ext cx="12032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Key insight: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54630" y="5648325"/>
            <a:ext cx="76764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Every layer is independently testable and honest — no fabricated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632460"/>
            <a:ext cx="8613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22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912495"/>
            <a:ext cx="769046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Real parity-verified metrics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2856" y="1615440"/>
            <a:ext cx="81201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Every number reproduced byte-for-byte from the locked test split.</a:t>
            </a:r>
          </a:p>
        </p:txBody>
      </p:sp>
      <p:graphicFrame>
        <p:nvGraphicFramePr>
          <p:cNvPr id="6" name="Native Chart 6"/>
          <p:cNvGraphicFramePr>
            <a:graphicFrameLocks noGrp="1"/>
          </p:cNvGraphicFramePr>
          <p:nvPr/>
        </p:nvGraphicFramePr>
        <p:xfrm>
          <a:off x="762000" y="2286000"/>
          <a:ext cx="6667500" cy="1666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7905750" y="228600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279892" y="2521268"/>
            <a:ext cx="11171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Key metrics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81416" y="2934652"/>
            <a:ext cx="11105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Protected value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76082" y="3059430"/>
            <a:ext cx="230698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₹31,018,572.48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81416" y="3553778"/>
            <a:ext cx="90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Missed fraud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76082" y="3678555"/>
            <a:ext cx="16539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₹1,184,238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81416" y="4172902"/>
            <a:ext cx="14501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Per month protected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6082" y="4297680"/>
            <a:ext cx="13274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₹939,957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81416" y="4792028"/>
            <a:ext cx="8351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Test events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76082" y="4916805"/>
            <a:ext cx="149068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4,877,375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81416" y="5411152"/>
            <a:ext cx="8351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Test frauds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6082" y="5535930"/>
            <a:ext cx="83763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4,833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632460"/>
            <a:ext cx="21180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22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HELIX SELF-HEALING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912495"/>
            <a:ext cx="686553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Fix once, immune forever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2856" y="1615440"/>
            <a:ext cx="67307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PCEC 6-stage repair + SQLite Gene Map with RL Q-values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42449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PCEC Engine — 6-Stage Repair Pipeline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762250"/>
            <a:ext cx="161925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1916" y="2915602"/>
            <a:ext cx="612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7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STAGE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0392" y="3168968"/>
            <a:ext cx="8112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Perceive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4981" y="304419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857500" y="2762250"/>
            <a:ext cx="161925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947416" y="2915602"/>
            <a:ext cx="612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7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STAGE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5892" y="3168968"/>
            <a:ext cx="9642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Construct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10481" y="304419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0" y="2762250"/>
            <a:ext cx="161925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42916" y="2915602"/>
            <a:ext cx="612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7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STAGE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41392" y="3168968"/>
            <a:ext cx="8112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Evaluate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5981" y="304419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048500" y="2762250"/>
            <a:ext cx="161925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ADE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38416" y="2915602"/>
            <a:ext cx="612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75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STAGE 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6892" y="3168968"/>
            <a:ext cx="6782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Commit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01481" y="304419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0" y="2762250"/>
            <a:ext cx="161925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ADE8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233916" y="2915602"/>
            <a:ext cx="612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75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STAGE 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32392" y="3168968"/>
            <a:ext cx="6012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Verify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3618" y="3917632"/>
            <a:ext cx="39118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Gene Map — SQLite Knowledge Base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381500"/>
            <a:ext cx="106680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6904" y="46329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error_signature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32404" y="46329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repair_strategy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7904" y="4632960"/>
            <a:ext cx="593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q_value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1904" y="46329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success_count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66404" y="4632960"/>
            <a:ext cx="10864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failure_count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666" y="4934902"/>
            <a:ext cx="1254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85e99429deb271b2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4934902"/>
            <a:ext cx="23782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{"action":"retry","timeout":60}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28666" y="493490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0.100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52666" y="49349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67166" y="49349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7666" y="5315902"/>
            <a:ext cx="1254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d74f86786585d2f4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33166" y="5315902"/>
            <a:ext cx="24277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{"action":"backoff","delay":2.0}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28666" y="5315902"/>
            <a:ext cx="5004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-0.075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52666" y="53159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67166" y="53159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66" y="5696902"/>
            <a:ext cx="1254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a1b2c3d4e5f67890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33166" y="5696902"/>
            <a:ext cx="29366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{"action":"tighten_hold","factor":1.25}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328666" y="569690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0.600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52666" y="56969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67166" y="56969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F4444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5904" y="6252210"/>
            <a:ext cx="5210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Stage 6: Gene — store the winning strategy for future &lt;1ms hits.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632460"/>
            <a:ext cx="10960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22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LIVE DEMO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912495"/>
            <a:ext cx="590911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5-minute walkthrough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2856" y="1615440"/>
            <a:ext cx="51035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Every panel shows real data, not mockups.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36142" y="2597468"/>
            <a:ext cx="14114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1. Live Scoring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2642" y="2597468"/>
            <a:ext cx="50098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→ Score a real payment event through the XGBoost model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6142" y="3359468"/>
            <a:ext cx="18690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2. Attack Simulator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2642" y="3359468"/>
            <a:ext cx="66168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→ Push VELOCITY_ATTACK through the real engine, watch raw margin react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39052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36142" y="4121468"/>
            <a:ext cx="20507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3. Outcome Simulator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12642" y="4121468"/>
            <a:ext cx="56004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→ Show verified P&amp;L: ₹3.10 Cr protected, honest FP disclosure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46672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136142" y="4883468"/>
            <a:ext cx="19036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4. Helix Self-Healing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12642" y="4883468"/>
            <a:ext cx="51526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→ Trigger a failure, watch PCEC repair it and store a gene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54292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4ADE8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6142" y="5645468"/>
            <a:ext cx="20491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5. Graph Visualization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12642" y="5645468"/>
            <a:ext cx="50698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→ Live force-directed graph from Neo4j + local snapshots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62865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36142" y="6502718"/>
            <a:ext cx="58649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Full script in docs/DEMO_SCRIPT.md — practice 3x before judging.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632460"/>
            <a:ext cx="11963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225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2950" y="912495"/>
            <a:ext cx="810484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From prototype to production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2856" y="1615440"/>
            <a:ext cx="503125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What we've built, and where it goes next.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34618" y="2584132"/>
            <a:ext cx="7381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4ADE80"/>
                </a:solidFill>
                <a:latin typeface="Inter"/>
                <a:ea typeface="Inter"/>
                <a:cs typeface="Inter"/>
              </a:rPr>
              <a:t>✔ Done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904" y="3013710"/>
            <a:ext cx="2640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Live scoring endpoint with SHAP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904" y="3299460"/>
            <a:ext cx="23061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Velocity store (1h/24h/7d)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6904" y="3585210"/>
            <a:ext cx="25203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Graph store + Cypher gateway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904" y="3870960"/>
            <a:ext cx="2611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Attack simulator (5 scenarios)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6904" y="4156710"/>
            <a:ext cx="28251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Outcome simulator (verified P&amp;L)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6904" y="4442460"/>
            <a:ext cx="1849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Helix PCEC + Gene Map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6904" y="4728210"/>
            <a:ext cx="3053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Audit ledger (Postgres + in-memory)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6904" y="5013960"/>
            <a:ext cx="2759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Drift monitor (PSI + mean-shift)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6904" y="529971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147 tests passing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6904" y="5585460"/>
            <a:ext cx="29398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Dashboard (Next.js) with all panels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76750" y="238125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49368" y="2584132"/>
            <a:ext cx="7381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⚡ Next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51654" y="3013710"/>
            <a:ext cx="3104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Full-data retrain (v3 on 14.6M rows)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51654" y="3299460"/>
            <a:ext cx="2513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Local heat-score replacement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51654" y="3585210"/>
            <a:ext cx="2532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Vertex AI endpoint deployment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51654" y="3870960"/>
            <a:ext cx="23503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Stripe Connect pay-per-use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51654" y="4156710"/>
            <a:ext cx="22598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Native macOS .app (Tauri)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1654" y="4442460"/>
            <a:ext cx="20852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Presentation deck polish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51654" y="4728210"/>
            <a:ext cx="2845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ROI calculator with Razorpay data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51654" y="5013960"/>
            <a:ext cx="2221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README + deployment docs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91500" y="2381250"/>
            <a:ext cx="3238500" cy="3619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64118" y="2584132"/>
            <a:ext cx="193826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💡 Why it matters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66404" y="3013710"/>
            <a:ext cx="2854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₹3.10 Cr fraud caught in real data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66404" y="3299460"/>
            <a:ext cx="28690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Helix learns from its own mistakes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66404" y="3585210"/>
            <a:ext cx="3054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Every metric verified byte-for-byte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66404" y="3870960"/>
            <a:ext cx="24894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Defense-only, no exploitation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66404" y="4156710"/>
            <a:ext cx="23303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5-min demo, not slides-only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66404" y="4442460"/>
            <a:ext cx="28771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AFC"/>
                </a:solidFill>
                <a:latin typeface="Inter"/>
                <a:ea typeface="Inter"/>
                <a:cs typeface="Inter"/>
              </a:rPr>
              <a:t>▸ Razorpay plug-and-play compatible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904" y="6347460"/>
            <a:ext cx="32776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github.com/aditisahu1234/Rhea-FinGraph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2026-09-04T17:19:10Z</dcterms:created>
  <dcterms:modified xsi:type="dcterms:W3CDTF">2026-09-04T17:19:10Z</dcterms:modified>
  <cp:category/>
  <cp:contentStatus/>
</cp:coreProperties>
</file>